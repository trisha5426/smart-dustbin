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392241-ECB0-4D3A-B83A-B12FE2290D86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8D221-511B-4708-A657-E8C6E35F2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62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1349-CDAC-6898-F001-1A3E8147D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9257F-0B68-C1E8-EE9E-D24A98B2C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63298-55AD-1EB1-2005-D1E4DA2D3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317D7-7E9E-8BD3-D573-B7FAAE75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FF265-0F9C-4D86-BB25-906CFE17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28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FB2FC-1910-82AC-F20F-717480C6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FE30-321F-A945-6AA5-7C0A1704C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B243-9EE1-5799-6732-57E532A4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A5AB5-3016-3D9E-7F96-302BEEF6A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3638A-3C4A-B2C6-700E-0D29E21C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16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18DE-E483-5E20-B7AD-644009F8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CB06D-B322-C1FE-AEAD-ADE098A1C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A8A7-2B98-A52B-CBC7-596669EE6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92CD2-0AF8-F104-D971-27B37A42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FC5D0-0B6F-72C4-BCA5-E364FFA5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99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B99E-31B7-A3A4-AB69-C7696E52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CFA75-1AB7-9B07-0062-3BFC493D2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64189-E44C-FC16-970D-3282CF6AB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B0357-1DEB-55D3-E355-40C93605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53115-1384-5443-C245-DA95BF38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3F80F-880A-D95E-2893-B5A7D299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41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6B9A-61BA-A4AA-A468-675ADDA19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A734-8FDA-511C-3242-CCA2AB09B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0A0C1-4C9A-A1AF-D018-CC83D5F0E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7ED25-6E31-C24C-4BCB-7256A51E7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9C2BC-A4BD-AFAD-C765-E95FF20A8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83E602-0D87-2A01-BDF1-E231A4DD2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5CD6D-5712-471F-93C3-5B610D82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85748-86B0-1EFC-DFA2-2048F671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20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4F7D-8261-4C15-94EC-A6C54CD4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A035A-F026-72EA-672E-2AC1674C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F4C2C-A93B-1B73-3D4D-CB3F5FC5D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92F49-D2D3-FE05-7D98-47A24CB8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91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0EB868-A7FE-9A70-091E-DB72336EE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904365-6BD0-D2A4-8117-E20F735C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1EF1E-31AC-D868-3DBC-5AEC16B6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43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B25D-E9A4-1F13-8134-2F3CB97C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D2C64-61EB-5044-9AAB-9F455B578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C4A02-DE0E-576E-D664-926936A85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7DA51-2492-9ED4-CEC9-08574302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C2B36-0568-B16A-9A5E-4E0E6385A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6475A-90DD-BECA-43A9-50552D1D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67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19EF3-78B3-699C-F5A3-6CCD2B21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9F2F03-ABD0-4594-BAF4-58AE04C71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61194-B094-DE68-1A16-43FC5F24C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EDA14-AFCF-53A8-D384-DC1B35B6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295CF-C053-53D4-5A7F-5219D29F6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EF075-2F44-163F-AD4D-6F6AA68C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547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A50C-BF73-7A6C-6D2B-7EE4916C8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7F864-C23F-B0D7-825C-4881EBA1E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291AA-2BAD-33D2-E6FF-C5E5B1AF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4060D-286C-3DDE-575A-CF8384C3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75D30-5877-0337-04AF-5F041132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43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2772F5-CB85-BB8A-0906-B0D444D5C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A7D64-974A-4BEF-D740-ECD5006EC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DE062-5C67-AFD3-DB13-36DB0CEA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645B5-D716-47E2-3FD4-7B3B04765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CBF8C-56F6-8479-FADD-AB2F9BA6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00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FB498-DD79-BD35-4D32-51D425BF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E445F-E8F0-6A2F-BB70-6BAF27C28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04F82-2678-415C-4133-74C84C6D7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BE470-1F2D-4F77-948A-40C70ED892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A1045-D3D5-69CB-B5AB-957299D8F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E39FB-4B55-8A96-3AD0-B28F2F6DB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A951E-9A83-4C5D-9B61-193A3404E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10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/3.0/" TargetMode="External"/><Relationship Id="rId3" Type="http://schemas.openxmlformats.org/officeDocument/2006/relationships/hyperlink" Target="https://pixabay.com/en/attention-exclamation-mark-sign-307030/" TargetMode="External"/><Relationship Id="rId7" Type="http://schemas.openxmlformats.org/officeDocument/2006/relationships/hyperlink" Target="https://freepngimg.com/png/4448-gift-box-png-imag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openclipart.org/detail/67/tools-hammer-spanner-by-andy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anipal University, Jaipur: The Melting Pot of Creativity and Logic -  Higher Education Digest">
            <a:extLst>
              <a:ext uri="{FF2B5EF4-FFF2-40B4-BE49-F238E27FC236}">
                <a16:creationId xmlns:a16="http://schemas.microsoft.com/office/drawing/2014/main" id="{1C414291-430C-211D-3E6F-77C9EB5D9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2888"/>
            <a:ext cx="3106994" cy="8803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D97360-46E0-20A9-AE51-4CFBA4575E9F}"/>
              </a:ext>
            </a:extLst>
          </p:cNvPr>
          <p:cNvSpPr txBox="1"/>
          <p:nvPr/>
        </p:nvSpPr>
        <p:spPr>
          <a:xfrm>
            <a:off x="3569111" y="648144"/>
            <a:ext cx="6258477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/>
              <a:t>      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    Department of Computer Science and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BD500-7B7A-D16A-7259-F68532A25EDE}"/>
              </a:ext>
            </a:extLst>
          </p:cNvPr>
          <p:cNvSpPr txBox="1"/>
          <p:nvPr/>
        </p:nvSpPr>
        <p:spPr>
          <a:xfrm>
            <a:off x="61575" y="5935794"/>
            <a:ext cx="61746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Submitted By:</a:t>
            </a:r>
          </a:p>
          <a:p>
            <a:r>
              <a:rPr lang="en-IN" dirty="0"/>
              <a:t>Trisha Chauhan</a:t>
            </a:r>
          </a:p>
          <a:p>
            <a:r>
              <a:rPr lang="en-IN" dirty="0"/>
              <a:t>23FE10CSE00167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0E2A08-562F-2990-7840-F1E321508CC3}"/>
              </a:ext>
            </a:extLst>
          </p:cNvPr>
          <p:cNvSpPr txBox="1"/>
          <p:nvPr/>
        </p:nvSpPr>
        <p:spPr>
          <a:xfrm>
            <a:off x="9465547" y="6028127"/>
            <a:ext cx="2381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Supervised By:</a:t>
            </a:r>
          </a:p>
          <a:p>
            <a:r>
              <a:rPr lang="en-IN" dirty="0" err="1"/>
              <a:t>Dr.Mayank</a:t>
            </a:r>
            <a:r>
              <a:rPr lang="en-IN" dirty="0"/>
              <a:t> Namdev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5CFC82-A548-1FCB-305B-62272EED9AE7}"/>
              </a:ext>
            </a:extLst>
          </p:cNvPr>
          <p:cNvSpPr txBox="1"/>
          <p:nvPr/>
        </p:nvSpPr>
        <p:spPr>
          <a:xfrm>
            <a:off x="3283975" y="2367733"/>
            <a:ext cx="70792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SMART-DUSTBIN DISPOSAL WITH REWARD SYSTEM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51249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C67134-4E1A-9330-8CF5-B46B841A29C7}"/>
              </a:ext>
            </a:extLst>
          </p:cNvPr>
          <p:cNvSpPr txBox="1"/>
          <p:nvPr/>
        </p:nvSpPr>
        <p:spPr>
          <a:xfrm>
            <a:off x="560439" y="698090"/>
            <a:ext cx="56240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2">
                    <a:lumMod val="75000"/>
                  </a:schemeClr>
                </a:solidFill>
              </a:rPr>
              <a:t>OUTLINE</a:t>
            </a:r>
            <a:endParaRPr lang="en-IN" sz="6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84FCB-E184-8A4D-D17B-25546AB75B74}"/>
              </a:ext>
            </a:extLst>
          </p:cNvPr>
          <p:cNvSpPr txBox="1"/>
          <p:nvPr/>
        </p:nvSpPr>
        <p:spPr>
          <a:xfrm>
            <a:off x="678426" y="205285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600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600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600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600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600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600" dirty="0"/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8BB92-5409-CF30-D693-A15736F17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20" y="800100"/>
            <a:ext cx="689864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873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53A21B-15E5-3A5D-B722-7C9171EF9D5A}"/>
              </a:ext>
            </a:extLst>
          </p:cNvPr>
          <p:cNvSpPr txBox="1"/>
          <p:nvPr/>
        </p:nvSpPr>
        <p:spPr>
          <a:xfrm>
            <a:off x="117985" y="892203"/>
            <a:ext cx="54274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B3ADE-E8AB-6C93-7E3B-8BF15F660A00}"/>
              </a:ext>
            </a:extLst>
          </p:cNvPr>
          <p:cNvSpPr txBox="1"/>
          <p:nvPr/>
        </p:nvSpPr>
        <p:spPr>
          <a:xfrm>
            <a:off x="137652" y="2610292"/>
            <a:ext cx="5840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Effective waste management is a critical challenge for modern </a:t>
            </a:r>
            <a:r>
              <a:rPr lang="en-US" dirty="0" err="1"/>
              <a:t>society.Rapid</a:t>
            </a:r>
            <a:r>
              <a:rPr lang="en-US" dirty="0"/>
              <a:t> urbanization has led to increased waste </a:t>
            </a:r>
            <a:r>
              <a:rPr lang="en-US" dirty="0" err="1"/>
              <a:t>generation,polluted</a:t>
            </a:r>
            <a:r>
              <a:rPr lang="en-US" dirty="0"/>
              <a:t> </a:t>
            </a:r>
            <a:r>
              <a:rPr lang="en-US" dirty="0" err="1"/>
              <a:t>streets,and</a:t>
            </a:r>
            <a:r>
              <a:rPr lang="en-US" dirty="0"/>
              <a:t> health hazard.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879BB-4FB0-52F6-E04E-2E100A8AC001}"/>
              </a:ext>
            </a:extLst>
          </p:cNvPr>
          <p:cNvSpPr txBox="1"/>
          <p:nvPr/>
        </p:nvSpPr>
        <p:spPr>
          <a:xfrm>
            <a:off x="117985" y="4294602"/>
            <a:ext cx="5456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 primary driver of this issue is the lack of public </a:t>
            </a:r>
            <a:r>
              <a:rPr lang="en-US" dirty="0" err="1"/>
              <a:t>motivation.Current</a:t>
            </a:r>
            <a:r>
              <a:rPr lang="en-US" dirty="0"/>
              <a:t> system rely on compliance rather than </a:t>
            </a:r>
            <a:r>
              <a:rPr lang="en-US" dirty="0" err="1"/>
              <a:t>incentivization.This</a:t>
            </a:r>
            <a:r>
              <a:rPr lang="en-US" dirty="0"/>
              <a:t> project proposes a solution that makes waste disposal rewarding.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0AAFF-AC94-7986-CBD7-7C8838D354B4}"/>
              </a:ext>
            </a:extLst>
          </p:cNvPr>
          <p:cNvSpPr txBox="1"/>
          <p:nvPr/>
        </p:nvSpPr>
        <p:spPr>
          <a:xfrm>
            <a:off x="137652" y="2197000"/>
            <a:ext cx="405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GLOBAL CHALLENGE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9532D-1605-154E-1B32-5C157DFD92D2}"/>
              </a:ext>
            </a:extLst>
          </p:cNvPr>
          <p:cNvSpPr txBox="1"/>
          <p:nvPr/>
        </p:nvSpPr>
        <p:spPr>
          <a:xfrm>
            <a:off x="137652" y="3922812"/>
            <a:ext cx="368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MOTIVATION GAP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050" name="Picture 2" descr="Recycling Management System at ₹ 30000/piece | Indore | ID ...">
            <a:extLst>
              <a:ext uri="{FF2B5EF4-FFF2-40B4-BE49-F238E27FC236}">
                <a16:creationId xmlns:a16="http://schemas.microsoft.com/office/drawing/2014/main" id="{E940FCE6-A6AA-CB5D-7CC4-706FD2633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654" y="828524"/>
            <a:ext cx="5840361" cy="520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2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83A8F-E3E7-95D5-2088-F3BEC51B32A8}"/>
              </a:ext>
            </a:extLst>
          </p:cNvPr>
          <p:cNvSpPr txBox="1"/>
          <p:nvPr/>
        </p:nvSpPr>
        <p:spPr>
          <a:xfrm>
            <a:off x="167148" y="334297"/>
            <a:ext cx="11857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LITERATURE REVIEW &amp; BACKGROUND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A6008-1A76-E932-1FDC-17A1C81F2B6C}"/>
              </a:ext>
            </a:extLst>
          </p:cNvPr>
          <p:cNvSpPr txBox="1"/>
          <p:nvPr/>
        </p:nvSpPr>
        <p:spPr>
          <a:xfrm>
            <a:off x="934063" y="3776466"/>
            <a:ext cx="1995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CURRENT STATE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4D5F5-0B32-EA82-78D1-845C9CE6ADA6}"/>
              </a:ext>
            </a:extLst>
          </p:cNvPr>
          <p:cNvSpPr txBox="1"/>
          <p:nvPr/>
        </p:nvSpPr>
        <p:spPr>
          <a:xfrm>
            <a:off x="5211096" y="3670623"/>
            <a:ext cx="1769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ENFORCEMENT LIMITATIONS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ABB43-A66C-51AA-D3C1-2B179F5A0C38}"/>
              </a:ext>
            </a:extLst>
          </p:cNvPr>
          <p:cNvSpPr txBox="1"/>
          <p:nvPr/>
        </p:nvSpPr>
        <p:spPr>
          <a:xfrm>
            <a:off x="9065342" y="3624457"/>
            <a:ext cx="2054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GAMIFICATION GAP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C87EF-B1A1-2107-B1E2-4A271ACC0EA7}"/>
              </a:ext>
            </a:extLst>
          </p:cNvPr>
          <p:cNvSpPr txBox="1"/>
          <p:nvPr/>
        </p:nvSpPr>
        <p:spPr>
          <a:xfrm>
            <a:off x="4562167" y="4617093"/>
            <a:ext cx="3215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Punitive measures and strict enforcement are difficult to scale and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maintain.They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 not create long-term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behavorial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change.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E99A7-1B82-2FB4-E880-E31317C07F2B}"/>
              </a:ext>
            </a:extLst>
          </p:cNvPr>
          <p:cNvSpPr txBox="1"/>
          <p:nvPr/>
        </p:nvSpPr>
        <p:spPr>
          <a:xfrm>
            <a:off x="393286" y="4617093"/>
            <a:ext cx="3328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Traditional waste management is </a:t>
            </a:r>
            <a:r>
              <a:rPr lang="en-US" dirty="0" err="1"/>
              <a:t>reactive.It</a:t>
            </a:r>
            <a:r>
              <a:rPr lang="en-US" dirty="0"/>
              <a:t> relies on citizens’ </a:t>
            </a:r>
            <a:r>
              <a:rPr lang="en-US" dirty="0" err="1"/>
              <a:t>instrinsic</a:t>
            </a:r>
            <a:r>
              <a:rPr lang="en-US" dirty="0"/>
              <a:t> </a:t>
            </a:r>
            <a:r>
              <a:rPr lang="en-US" dirty="0" err="1"/>
              <a:t>motivation,which</a:t>
            </a:r>
            <a:r>
              <a:rPr lang="en-US" dirty="0"/>
              <a:t> often </a:t>
            </a:r>
            <a:r>
              <a:rPr lang="en-US" dirty="0" err="1"/>
              <a:t>fails,leading</a:t>
            </a:r>
            <a:r>
              <a:rPr lang="en-US" dirty="0"/>
              <a:t> to degradation.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9C676-01BE-6D4B-18CC-BA7099676E78}"/>
              </a:ext>
            </a:extLst>
          </p:cNvPr>
          <p:cNvSpPr txBox="1"/>
          <p:nvPr/>
        </p:nvSpPr>
        <p:spPr>
          <a:xfrm>
            <a:off x="8617975" y="4617093"/>
            <a:ext cx="3406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There is a lack of systems that utilize “Gamification” effectively-turning the chore of waste disposal into rewarding activity.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FB2976-230F-A402-DB9A-F69DB8E47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8606" y="2058676"/>
            <a:ext cx="2271405" cy="137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D1F5CF-B7F3-F0BC-104D-DDAD52FCA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837315" y="2058675"/>
            <a:ext cx="2340233" cy="13703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9C33EF-15F9-692D-5F25-8BBEF05A2B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321039" y="1711210"/>
            <a:ext cx="3328221" cy="19132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47134A-5257-D982-57CC-1B20A5EF4065}"/>
              </a:ext>
            </a:extLst>
          </p:cNvPr>
          <p:cNvSpPr txBox="1"/>
          <p:nvPr/>
        </p:nvSpPr>
        <p:spPr>
          <a:xfrm>
            <a:off x="-471333" y="6627168"/>
            <a:ext cx="44435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7" tooltip="https://freepngimg.com/png/4448-gift-box-png-image"/>
              </a:rPr>
              <a:t>This Photo</a:t>
            </a:r>
            <a:r>
              <a:rPr lang="en-IN" sz="900" dirty="0"/>
              <a:t> by Unknown Author is licensed </a:t>
            </a:r>
            <a:r>
              <a:rPr lang="en-IN" sz="900" dirty="0" err="1"/>
              <a:t>uder</a:t>
            </a:r>
            <a:r>
              <a:rPr lang="en-IN" sz="900" dirty="0"/>
              <a:t> </a:t>
            </a:r>
            <a:r>
              <a:rPr lang="en-IN" sz="900" dirty="0">
                <a:hlinkClick r:id="rId8" tooltip="https://creativecommons.org/licenses/by-nc/3.0/"/>
              </a:rPr>
              <a:t>CC BY-NC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457312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0C0999-02E3-CA34-0496-EE0F4CA23DB9}"/>
              </a:ext>
            </a:extLst>
          </p:cNvPr>
          <p:cNvSpPr txBox="1"/>
          <p:nvPr/>
        </p:nvSpPr>
        <p:spPr>
          <a:xfrm>
            <a:off x="741680" y="629920"/>
            <a:ext cx="80670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PROBLEM STATEMENT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4AAA8-A785-316F-CCD0-185C84E11224}"/>
              </a:ext>
            </a:extLst>
          </p:cNvPr>
          <p:cNvSpPr txBox="1"/>
          <p:nvPr/>
        </p:nvSpPr>
        <p:spPr>
          <a:xfrm>
            <a:off x="497840" y="2133937"/>
            <a:ext cx="10007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Traditional waste management fails due to a lack of citizen </a:t>
            </a:r>
            <a:r>
              <a:rPr lang="en-US" sz="2800" dirty="0" err="1"/>
              <a:t>engagement.This</a:t>
            </a:r>
            <a:r>
              <a:rPr lang="en-US" sz="2800" dirty="0"/>
              <a:t> project addresses the critical need for an incentivized system to motivate responsible waste segregation and disposal in urban environment.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Manual monitoring is inefficient and time-consuming.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No reward or ranking system for waste management performance.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0189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999B9E-6419-1972-CF0F-0AA5ADD6AE18}"/>
              </a:ext>
            </a:extLst>
          </p:cNvPr>
          <p:cNvSpPr txBox="1"/>
          <p:nvPr/>
        </p:nvSpPr>
        <p:spPr>
          <a:xfrm>
            <a:off x="568960" y="812800"/>
            <a:ext cx="75895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PROJECT OBJECTIVES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3292FA-3A0D-261A-232C-3DCD74F490AA}"/>
              </a:ext>
            </a:extLst>
          </p:cNvPr>
          <p:cNvSpPr txBox="1"/>
          <p:nvPr/>
        </p:nvSpPr>
        <p:spPr>
          <a:xfrm>
            <a:off x="568960" y="2346960"/>
            <a:ext cx="102006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/>
              <a:t>Smart </a:t>
            </a:r>
            <a:r>
              <a:rPr lang="en-US" sz="2400" dirty="0" err="1"/>
              <a:t>Identification:Design</a:t>
            </a:r>
            <a:r>
              <a:rPr lang="en-US" sz="2400" dirty="0"/>
              <a:t> a high-tech system identifies and accurately measures </a:t>
            </a:r>
            <a:r>
              <a:rPr lang="en-US" sz="2400" dirty="0" err="1"/>
              <a:t>desposited</a:t>
            </a:r>
            <a:r>
              <a:rPr lang="en-US" sz="2400" dirty="0"/>
              <a:t> waste.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/>
              <a:t>Website </a:t>
            </a:r>
            <a:r>
              <a:rPr lang="en-US" sz="2400" dirty="0" err="1"/>
              <a:t>Interface:Develop</a:t>
            </a:r>
            <a:r>
              <a:rPr lang="en-US" sz="2400" dirty="0"/>
              <a:t> a comprehensive website for user interaction and reward tracking.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/>
              <a:t>Reward </a:t>
            </a:r>
            <a:r>
              <a:rPr lang="en-US" sz="2400" dirty="0" err="1"/>
              <a:t>System:Implement</a:t>
            </a:r>
            <a:r>
              <a:rPr lang="en-US" sz="2400" dirty="0"/>
              <a:t> a real-time mechanism that credits points to user upon verified waste disposal.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400" dirty="0"/>
              <a:t>User </a:t>
            </a:r>
            <a:r>
              <a:rPr lang="en-US" sz="2400" dirty="0" err="1"/>
              <a:t>Experience:Create</a:t>
            </a:r>
            <a:r>
              <a:rPr lang="en-US" sz="2400" dirty="0"/>
              <a:t> a smooth and intuitive UI/UX to maximize user adoption and </a:t>
            </a:r>
            <a:r>
              <a:rPr lang="en-US" sz="2400" dirty="0" err="1"/>
              <a:t>behavorial</a:t>
            </a:r>
            <a:r>
              <a:rPr lang="en-US" sz="2400" dirty="0"/>
              <a:t> change.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8929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DC1737-530B-9BA2-438B-8B1550CE2707}"/>
              </a:ext>
            </a:extLst>
          </p:cNvPr>
          <p:cNvSpPr txBox="1"/>
          <p:nvPr/>
        </p:nvSpPr>
        <p:spPr>
          <a:xfrm>
            <a:off x="680720" y="2540000"/>
            <a:ext cx="701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Web Application developed for waste management.</a:t>
            </a:r>
          </a:p>
          <a:p>
            <a:pPr algn="just"/>
            <a:r>
              <a:rPr lang="en-US" sz="2400" dirty="0"/>
              <a:t>• Role-based login (Admin &amp; Client).</a:t>
            </a:r>
          </a:p>
          <a:p>
            <a:pPr algn="just"/>
            <a:r>
              <a:rPr lang="en-US" sz="2400" dirty="0"/>
              <a:t>• Dashboard for monitoring dustbin status.</a:t>
            </a:r>
          </a:p>
          <a:p>
            <a:pPr algn="just"/>
            <a:r>
              <a:rPr lang="en-US" sz="2400" dirty="0"/>
              <a:t>• Leaderboard for ranking performance.</a:t>
            </a:r>
          </a:p>
          <a:p>
            <a:pPr algn="just"/>
            <a:r>
              <a:rPr lang="en-US" sz="2400" dirty="0"/>
              <a:t>• Centralized data storage and management.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5FCD8-CD8E-2BCF-FCDB-D24132193263}"/>
              </a:ext>
            </a:extLst>
          </p:cNvPr>
          <p:cNvSpPr txBox="1"/>
          <p:nvPr/>
        </p:nvSpPr>
        <p:spPr>
          <a:xfrm>
            <a:off x="680720" y="1063009"/>
            <a:ext cx="6786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SYSTEM OVERVIEW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C22FF-418C-7157-3124-E2655E604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0" y="1063009"/>
            <a:ext cx="480568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2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38921E-3087-A665-5982-5D9704C70984}"/>
              </a:ext>
            </a:extLst>
          </p:cNvPr>
          <p:cNvSpPr txBox="1"/>
          <p:nvPr/>
        </p:nvSpPr>
        <p:spPr>
          <a:xfrm>
            <a:off x="568960" y="227377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400" dirty="0"/>
              <a:t>• View all registered clients.</a:t>
            </a:r>
          </a:p>
          <a:p>
            <a:pPr marL="0" indent="0" algn="just">
              <a:buNone/>
            </a:pPr>
            <a:r>
              <a:rPr lang="en-US" sz="2400" dirty="0"/>
              <a:t>• Monitor dustbin status and waste levels.</a:t>
            </a:r>
          </a:p>
          <a:p>
            <a:pPr marL="0" indent="0" algn="just">
              <a:buNone/>
            </a:pPr>
            <a:r>
              <a:rPr lang="en-US" sz="2400" dirty="0"/>
              <a:t>• Manage users and system data.</a:t>
            </a:r>
          </a:p>
          <a:p>
            <a:pPr marL="0" indent="0" algn="just">
              <a:buNone/>
            </a:pPr>
            <a:r>
              <a:rPr lang="en-US" sz="2400" dirty="0"/>
              <a:t>• Track overall performance statistics.</a:t>
            </a:r>
          </a:p>
          <a:p>
            <a:pPr marL="0" indent="0" algn="just">
              <a:buNone/>
            </a:pPr>
            <a:r>
              <a:rPr lang="en-US" sz="2400" dirty="0"/>
              <a:t>• Access leaderboard rankings.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35F49-B84D-EEAC-84BA-7C867C66D6FB}"/>
              </a:ext>
            </a:extLst>
          </p:cNvPr>
          <p:cNvSpPr txBox="1"/>
          <p:nvPr/>
        </p:nvSpPr>
        <p:spPr>
          <a:xfrm>
            <a:off x="568960" y="589280"/>
            <a:ext cx="6837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DASHBOARD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977C1-DC1A-58B0-8563-744A8E0A2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439" y="1604944"/>
            <a:ext cx="5652135" cy="491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00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23BDCE-A3CC-2A90-BD79-E0DCFC0DDD00}"/>
              </a:ext>
            </a:extLst>
          </p:cNvPr>
          <p:cNvSpPr txBox="1"/>
          <p:nvPr/>
        </p:nvSpPr>
        <p:spPr>
          <a:xfrm>
            <a:off x="731520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• Ranks users based on performance metrics.</a:t>
            </a:r>
          </a:p>
          <a:p>
            <a:pPr marL="0" indent="0">
              <a:buNone/>
            </a:pPr>
            <a:r>
              <a:rPr lang="en-US" sz="2400" dirty="0"/>
              <a:t>• Encourages healthy competition</a:t>
            </a:r>
          </a:p>
          <a:p>
            <a:pPr marL="0" indent="0">
              <a:buNone/>
            </a:pPr>
            <a:r>
              <a:rPr lang="en-US" sz="2400" dirty="0"/>
              <a:t>• Improves accountability in waste collection.</a:t>
            </a:r>
          </a:p>
          <a:p>
            <a:pPr marL="0" indent="0">
              <a:buNone/>
            </a:pPr>
            <a:r>
              <a:rPr lang="en-US" sz="2400" dirty="0"/>
              <a:t>• Displays top-performing clients.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88E7FD-302C-337B-B817-4D206793640E}"/>
              </a:ext>
            </a:extLst>
          </p:cNvPr>
          <p:cNvSpPr txBox="1"/>
          <p:nvPr/>
        </p:nvSpPr>
        <p:spPr>
          <a:xfrm>
            <a:off x="731520" y="924560"/>
            <a:ext cx="8006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LEADERBOARD SYSTEM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7931B-7B91-AAC3-27F0-37F677097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879" y="1940223"/>
            <a:ext cx="5496561" cy="45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29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BF0E21-A447-16E4-83A7-164395CF2148}"/>
              </a:ext>
            </a:extLst>
          </p:cNvPr>
          <p:cNvSpPr txBox="1"/>
          <p:nvPr/>
        </p:nvSpPr>
        <p:spPr>
          <a:xfrm>
            <a:off x="1066800" y="270049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1. User logs in (Admin/Client).</a:t>
            </a:r>
          </a:p>
          <a:p>
            <a:pPr marL="0" indent="0">
              <a:buNone/>
            </a:pPr>
            <a:r>
              <a:rPr lang="en-US" sz="2400" dirty="0"/>
              <a:t>2. Dashboard displays real-time data.</a:t>
            </a:r>
          </a:p>
          <a:p>
            <a:pPr marL="0" indent="0">
              <a:buNone/>
            </a:pPr>
            <a:r>
              <a:rPr lang="en-US" sz="2400" dirty="0"/>
              <a:t>3. Data updates when waste is collected.</a:t>
            </a:r>
          </a:p>
          <a:p>
            <a:pPr marL="0" indent="0">
              <a:buNone/>
            </a:pPr>
            <a:r>
              <a:rPr lang="en-US" sz="2400" dirty="0"/>
              <a:t>4. System stores data in database.</a:t>
            </a:r>
          </a:p>
          <a:p>
            <a:pPr marL="0" indent="0">
              <a:buNone/>
            </a:pPr>
            <a:r>
              <a:rPr lang="en-US" sz="2400" dirty="0"/>
              <a:t>5. Leaderboard updates automatically.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F6203-A3FF-4E1C-EB2A-FCCC2D69287B}"/>
              </a:ext>
            </a:extLst>
          </p:cNvPr>
          <p:cNvSpPr txBox="1"/>
          <p:nvPr/>
        </p:nvSpPr>
        <p:spPr>
          <a:xfrm>
            <a:off x="1066800" y="863600"/>
            <a:ext cx="6492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WORKING PROCESS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17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12600A-6A2E-7E21-D3BF-AAE2FEE5C7A5}"/>
              </a:ext>
            </a:extLst>
          </p:cNvPr>
          <p:cNvSpPr txBox="1"/>
          <p:nvPr/>
        </p:nvSpPr>
        <p:spPr>
          <a:xfrm>
            <a:off x="985520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• Reduces manual monitoring effort.</a:t>
            </a:r>
          </a:p>
          <a:p>
            <a:pPr marL="0" indent="0">
              <a:buNone/>
            </a:pPr>
            <a:r>
              <a:rPr lang="en-US" sz="2400" dirty="0"/>
              <a:t>• Improves cleanliness and efficiency.</a:t>
            </a:r>
          </a:p>
          <a:p>
            <a:pPr marL="0" indent="0">
              <a:buNone/>
            </a:pPr>
            <a:r>
              <a:rPr lang="en-US" sz="2400" dirty="0"/>
              <a:t>• Transparent performance tracking.</a:t>
            </a:r>
          </a:p>
          <a:p>
            <a:pPr marL="0" indent="0">
              <a:buNone/>
            </a:pPr>
            <a:r>
              <a:rPr lang="en-US" sz="2400" dirty="0"/>
              <a:t>• Scalable for smart city implementation.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2AC53-C9B2-3582-85B5-B7A1B6090E4B}"/>
              </a:ext>
            </a:extLst>
          </p:cNvPr>
          <p:cNvSpPr txBox="1"/>
          <p:nvPr/>
        </p:nvSpPr>
        <p:spPr>
          <a:xfrm>
            <a:off x="985520" y="843280"/>
            <a:ext cx="492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ADVANTAGES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16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9AEBF3-28A4-145A-C2BA-ECEE93DB83AD}"/>
              </a:ext>
            </a:extLst>
          </p:cNvPr>
          <p:cNvSpPr txBox="1"/>
          <p:nvPr/>
        </p:nvSpPr>
        <p:spPr>
          <a:xfrm>
            <a:off x="883920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• Integration with IoT sensors.</a:t>
            </a:r>
          </a:p>
          <a:p>
            <a:pPr marL="0" indent="0">
              <a:buNone/>
            </a:pPr>
            <a:r>
              <a:rPr lang="en-US" sz="2400" dirty="0"/>
              <a:t>• Mobile application version.</a:t>
            </a:r>
          </a:p>
          <a:p>
            <a:pPr marL="0" indent="0">
              <a:buNone/>
            </a:pPr>
            <a:r>
              <a:rPr lang="en-US" sz="2400" dirty="0"/>
              <a:t>• AI-based waste prediction system.</a:t>
            </a:r>
          </a:p>
          <a:p>
            <a:pPr marL="0" indent="0">
              <a:buNone/>
            </a:pPr>
            <a:r>
              <a:rPr lang="en-US" sz="2400" dirty="0"/>
              <a:t>• GPS tracking for waste collection vehicles.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D2F46-159C-482B-840A-98081A7F9EC7}"/>
              </a:ext>
            </a:extLst>
          </p:cNvPr>
          <p:cNvSpPr txBox="1"/>
          <p:nvPr/>
        </p:nvSpPr>
        <p:spPr>
          <a:xfrm>
            <a:off x="883920" y="792480"/>
            <a:ext cx="8260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FUTURE ENHANCEMENT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825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9E51A-D1E6-D5E7-A08B-11DDB789544F}"/>
              </a:ext>
            </a:extLst>
          </p:cNvPr>
          <p:cNvSpPr txBox="1"/>
          <p:nvPr/>
        </p:nvSpPr>
        <p:spPr>
          <a:xfrm>
            <a:off x="995680" y="2457718"/>
            <a:ext cx="6847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2400" dirty="0"/>
              <a:t>• Smart Dustbin Disposal System improves waste management.</a:t>
            </a:r>
          </a:p>
          <a:p>
            <a:pPr marL="0" indent="0" algn="just">
              <a:buNone/>
            </a:pPr>
            <a:r>
              <a:rPr lang="en-IN" sz="2400" dirty="0"/>
              <a:t>• Website-based dashboards enhance monitoring and control.</a:t>
            </a:r>
          </a:p>
          <a:p>
            <a:pPr marL="0" indent="0" algn="just">
              <a:buNone/>
            </a:pPr>
            <a:r>
              <a:rPr lang="en-IN" sz="2400" dirty="0"/>
              <a:t>• Leaderboard motivates better performance.</a:t>
            </a:r>
          </a:p>
          <a:p>
            <a:pPr marL="0" indent="0" algn="just">
              <a:buNone/>
            </a:pPr>
            <a:r>
              <a:rPr lang="en-IN" sz="2400" dirty="0"/>
              <a:t>• Supports sustainable and smart city initiatives.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26A79-2D23-89F2-A644-319E12ABAC95}"/>
              </a:ext>
            </a:extLst>
          </p:cNvPr>
          <p:cNvSpPr txBox="1"/>
          <p:nvPr/>
        </p:nvSpPr>
        <p:spPr>
          <a:xfrm>
            <a:off x="995680" y="934720"/>
            <a:ext cx="574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38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995958-EDDB-364A-B926-16CF566C63D1}"/>
              </a:ext>
            </a:extLst>
          </p:cNvPr>
          <p:cNvSpPr txBox="1"/>
          <p:nvPr/>
        </p:nvSpPr>
        <p:spPr>
          <a:xfrm>
            <a:off x="4114800" y="2413337"/>
            <a:ext cx="7152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THANK YOU!</a:t>
            </a:r>
            <a:endParaRPr lang="en-IN" sz="6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005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533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[BTECH-005-2023-24] TRISHA</dc:creator>
  <cp:lastModifiedBy>[BTECH-005-2023-24] TRISHA</cp:lastModifiedBy>
  <cp:revision>2</cp:revision>
  <dcterms:created xsi:type="dcterms:W3CDTF">2026-02-18T17:01:07Z</dcterms:created>
  <dcterms:modified xsi:type="dcterms:W3CDTF">2026-02-19T06:12:38Z</dcterms:modified>
</cp:coreProperties>
</file>